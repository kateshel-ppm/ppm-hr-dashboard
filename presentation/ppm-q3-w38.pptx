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Блок 3 не заполнен: в исходной презентации списка сделанного за 3 недели не было.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Блок 3 не заполнен: в исходной презентации списка сделанного за 3 недели не было. Блоки 4–6 собраны из исходного слайда, распределение по колонкам стоит перепроверить.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Пустой шаблон отдела: дублируйте этот слайд под каждый отдел.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331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Промежуточные результаты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312724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  ·  38 неделя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84048" y="3703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слайда отдела: 1 цель · 2 результат · 3 что сделал и драйвер · 4 что не сделал и узкое горлышко · 5 гипотезы · 6 приоритеты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31089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Коммерческий блок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факт: 25.08–15.09.2026  ·  цель — на квартал, до 30.09.2026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427464" y="31089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  ·  38 неделя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292608" cy="292608"/>
          </a:xfrm>
          <a:prstGeom prst="ellipse">
            <a:avLst/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9184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1088136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квартала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84048" y="1755648"/>
            <a:ext cx="1554480" cy="4041648"/>
          </a:xfrm>
          <a:prstGeom prst="roundRect">
            <a:avLst>
              <a:gd name="adj" fmla="val 3529"/>
            </a:avLst>
          </a:prstGeom>
          <a:solidFill>
            <a:srgbClr val="F6F8F8"/>
          </a:solidFill>
          <a:ln w="9525">
            <a:solidFill>
              <a:srgbClr val="E4E9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" y="188366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Чистая прибыль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12064" y="20574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411 млн ₽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12064" y="2640787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12064" y="2814523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580 млн ₽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" y="339791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12064" y="357164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861 млн ₽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" y="415503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клиенты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12064" y="432877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 тыс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" y="4912157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Карты без перевыпуска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12064" y="5085893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 тыс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048256" y="1115568"/>
            <a:ext cx="292608" cy="292608"/>
          </a:xfrm>
          <a:prstGeom prst="ellipse">
            <a:avLst/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93392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432304" y="1088136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на 15.09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048256" y="1755648"/>
            <a:ext cx="1874520" cy="4041648"/>
          </a:xfrm>
          <a:prstGeom prst="roundRect">
            <a:avLst>
              <a:gd name="adj" fmla="val 2927"/>
            </a:avLst>
          </a:prstGeom>
          <a:solidFill>
            <a:srgbClr val="F6F8F8"/>
          </a:solidFill>
          <a:ln w="9525">
            <a:solidFill>
              <a:srgbClr val="E4E9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76272" y="188366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Чистая прибыль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2176272" y="2057400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368 млн ₽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176272" y="229514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B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90%, опережаем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2176272" y="2640787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2176272" y="2814523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528 млн ₽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176272" y="3052267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B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91%, опережаем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2176272" y="339791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2176272" y="3571646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769 млн ₽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176272" y="380939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B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89%, опережаем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2176272" y="415503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клиенты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2176272" y="4328770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90,5 тыс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176272" y="456651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71%, отстаём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2176272" y="4912157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Карты без перевыпуска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2176272" y="5085893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98,7 тыс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2176272" y="5323637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78%, отстаём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032504" y="1115568"/>
            <a:ext cx="292608" cy="292608"/>
          </a:xfrm>
          <a:prstGeom prst="ellipse">
            <a:avLst/>
          </a:prstGeom>
          <a:solidFill>
            <a:srgbClr val="3B6FE0"/>
          </a:solidFill>
          <a:ln w="12700">
            <a:solidFill>
              <a:srgbClr val="3B6F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977640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416552" y="1088136"/>
            <a:ext cx="1764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сделал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что помогло (драйвер)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032504" y="1755648"/>
            <a:ext cx="2148840" cy="4041648"/>
          </a:xfrm>
          <a:prstGeom prst="roundRect">
            <a:avLst>
              <a:gd name="adj" fmla="val 2553"/>
            </a:avLst>
          </a:prstGeom>
          <a:solidFill>
            <a:srgbClr val="F4F7FE"/>
          </a:solidFill>
          <a:ln w="9525">
            <a:solidFill>
              <a:srgbClr val="D6E2F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160520" y="1883664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факт: 25.08 → 15.09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4160520" y="2157984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Заполнить: задача — результат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4160520" y="2560320"/>
            <a:ext cx="189280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драйвер: что помогло её сделать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4160520" y="3026664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Заполнить: задача — результат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4160520" y="3429000"/>
            <a:ext cx="189280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драйвер: что помогло её сделать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4160520" y="3895344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Заполнить: задача — результат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4160520" y="4297680"/>
            <a:ext cx="189280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драйвер: что помогло её сделать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91072" y="1115568"/>
            <a:ext cx="292608" cy="292608"/>
          </a:xfrm>
          <a:prstGeom prst="ellipse">
            <a:avLst/>
          </a:prstGeom>
          <a:solidFill>
            <a:srgbClr val="3B6FE0"/>
          </a:solidFill>
          <a:ln w="12700">
            <a:solidFill>
              <a:srgbClr val="3B6FE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236208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6675120" y="1088136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не сделал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узкое горлышко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291072" y="1755648"/>
            <a:ext cx="2103120" cy="4041648"/>
          </a:xfrm>
          <a:prstGeom prst="roundRect">
            <a:avLst>
              <a:gd name="adj" fmla="val 2609"/>
            </a:avLst>
          </a:prstGeom>
          <a:solidFill>
            <a:srgbClr val="F4F7FE"/>
          </a:solidFill>
          <a:ln w="9525">
            <a:solidFill>
              <a:srgbClr val="D6E2F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419088" y="188366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90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ключевая сложность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6419088" y="215798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Привлечение просело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6419088" y="2560320"/>
            <a:ext cx="18470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приток новых 34,6 тыс к концу сентября против плана 44,5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6419088" y="302666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Воронка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6419088" y="3429000"/>
            <a:ext cx="18470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визит→рег 2,1% при цели 2,3%, провал на переходе к выпуску карты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6419088" y="389534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 держат премиум и переезд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6419088" y="4297680"/>
            <a:ext cx="18470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не новые клиенты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503920" y="1115568"/>
            <a:ext cx="292608" cy="292608"/>
          </a:xfrm>
          <a:prstGeom prst="ellipse">
            <a:avLst/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449056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8887968" y="1088136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Гипотезы и решения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8503920" y="1755648"/>
            <a:ext cx="1645920" cy="4041648"/>
          </a:xfrm>
          <a:prstGeom prst="roundRect">
            <a:avLst>
              <a:gd name="adj" fmla="val 3333"/>
            </a:avLst>
          </a:prstGeom>
          <a:solidFill>
            <a:srgbClr val="F6F8F8"/>
          </a:solidFill>
          <a:ln w="9525">
            <a:solidFill>
              <a:srgbClr val="E4E9E9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631936" y="1883664"/>
            <a:ext cx="1389888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9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Дофинансирование: +52 млн бюджета дают +26 млн прибыли (0,5 ₽ на рубль)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9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Рассылка по 45 тыс регистраций без карты — до 1 300 карт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9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Партнёрка и рефка конвертят 54% и 78% — растить их долю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10259568" y="1115568"/>
            <a:ext cx="292608" cy="292608"/>
          </a:xfrm>
          <a:prstGeom prst="ellipse">
            <a:avLst/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0204704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10643616" y="1088136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Приоритеты на 2 недели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10259568" y="1755648"/>
            <a:ext cx="1554480" cy="4041648"/>
          </a:xfrm>
          <a:prstGeom prst="roundRect">
            <a:avLst>
              <a:gd name="adj" fmla="val 3529"/>
            </a:avLst>
          </a:prstGeom>
          <a:solidFill>
            <a:srgbClr val="F6F8F8"/>
          </a:solidFill>
          <a:ln w="9525">
            <a:solidFill>
              <a:srgbClr val="E4E9E9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10387584" y="1883664"/>
            <a:ext cx="1298448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9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Открутить остаток бюджета: 61 млн за 17 дней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9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Починить переход со страницы карт на выпуск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9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Закрыть август по koko и перекалибровать переезд на сентябрьский PL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31089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Юридический департамент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юрдепартамента  ·  факт: 25.08–15.09.2026  ·  цель — на квартал, до 30.09.2026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427464" y="31089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  ·  38 неделя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292608" cy="292608"/>
          </a:xfrm>
          <a:prstGeom prst="ellipse">
            <a:avLst/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9184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1088136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квартала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84048" y="1755648"/>
            <a:ext cx="1554480" cy="4041648"/>
          </a:xfrm>
          <a:prstGeom prst="roundRect">
            <a:avLst>
              <a:gd name="adj" fmla="val 3529"/>
            </a:avLst>
          </a:prstGeom>
          <a:solidFill>
            <a:srgbClr val="F6F8F8"/>
          </a:solidFill>
          <a:ln w="9525">
            <a:solidFill>
              <a:srgbClr val="E4E9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" y="188366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 группы компаний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12064" y="20574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Светофор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12064" y="2640787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Топ-риск по матрице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12064" y="2814523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Снять 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" y="339791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 ПДн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12064" y="357164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Закрыть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" y="415503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Второй риск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12064" y="432877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Закрыть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" y="4912157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Документооборот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12064" y="5085893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шаблонов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048256" y="1115568"/>
            <a:ext cx="292608" cy="292608"/>
          </a:xfrm>
          <a:prstGeom prst="ellipse">
            <a:avLst/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93392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432304" y="1088136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на 15.09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048256" y="1755648"/>
            <a:ext cx="1874520" cy="4041648"/>
          </a:xfrm>
          <a:prstGeom prst="roundRect">
            <a:avLst>
              <a:gd name="adj" fmla="val 2927"/>
            </a:avLst>
          </a:prstGeom>
          <a:solidFill>
            <a:srgbClr val="F6F8F8"/>
          </a:solidFill>
          <a:ln w="9525">
            <a:solidFill>
              <a:srgbClr val="E4E9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76272" y="188366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 группы компаний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2176272" y="2057400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Светофор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176272" y="229514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B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плану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2176272" y="2640787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Топ-риск по матрице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2176272" y="2814523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Снят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176272" y="3052267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B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плану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2176272" y="339791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 ПДн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2176272" y="3571646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30.09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176272" y="380939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90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2176272" y="415503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Второй риск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2176272" y="4328770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Агенты Claude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176272" y="456651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90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2176272" y="4912157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Документооборот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2176272" y="5085893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2 р.д.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2176272" y="5323637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B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плану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032504" y="1115568"/>
            <a:ext cx="292608" cy="292608"/>
          </a:xfrm>
          <a:prstGeom prst="ellipse">
            <a:avLst/>
          </a:prstGeom>
          <a:solidFill>
            <a:srgbClr val="3B6FE0"/>
          </a:solidFill>
          <a:ln w="12700">
            <a:solidFill>
              <a:srgbClr val="3B6F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977640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416552" y="1088136"/>
            <a:ext cx="1764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сделал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что помогло (драйвер)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032504" y="1755648"/>
            <a:ext cx="2148840" cy="4041648"/>
          </a:xfrm>
          <a:prstGeom prst="roundRect">
            <a:avLst>
              <a:gd name="adj" fmla="val 2553"/>
            </a:avLst>
          </a:prstGeom>
          <a:solidFill>
            <a:srgbClr val="F4F7FE"/>
          </a:solidFill>
          <a:ln w="9525">
            <a:solidFill>
              <a:srgbClr val="D6E2F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160520" y="1883664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факт: 25.08 → 15.09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4160520" y="2157984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Матрица рисков по группе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4160520" y="2560320"/>
            <a:ext cx="1892808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светофор, топ-риск № 1 снят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4160520" y="2860243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Документооборот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4160520" y="3262579"/>
            <a:ext cx="1892808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Яндекс Трекер, 10 шаблонов, SLA 2 р.д.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4160520" y="3562502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Прецедент Банк 131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4160520" y="3964838"/>
            <a:ext cx="1892808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договор поручения в двух редакциях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4160520" y="4264762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НСПК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4160520" y="4667098"/>
            <a:ext cx="1892808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реестр v19, проект Соглашения вместо суда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4160520" y="4967021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договоров с правками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4160520" y="5369357"/>
            <a:ext cx="1892808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NDA Сбербанк, ТБанк, МТС, Т2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291072" y="1115568"/>
            <a:ext cx="292608" cy="292608"/>
          </a:xfrm>
          <a:prstGeom prst="ellipse">
            <a:avLst/>
          </a:prstGeom>
          <a:solidFill>
            <a:srgbClr val="3B6FE0"/>
          </a:solidFill>
          <a:ln w="12700">
            <a:solidFill>
              <a:srgbClr val="3B6FE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236208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6675120" y="1088136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не сделал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узкое горлышко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291072" y="1755648"/>
            <a:ext cx="2103120" cy="4041648"/>
          </a:xfrm>
          <a:prstGeom prst="roundRect">
            <a:avLst>
              <a:gd name="adj" fmla="val 2609"/>
            </a:avLst>
          </a:prstGeom>
          <a:solidFill>
            <a:srgbClr val="F4F7FE"/>
          </a:solidFill>
          <a:ln w="9525">
            <a:solidFill>
              <a:srgbClr val="D6E2F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419088" y="188366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90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ключевая сложность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6419088" y="215798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Второй риск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6419088" y="2560320"/>
            <a:ext cx="18470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закроется полностью только когда Банк заберёт услугу под ключ</a:t>
            </a:r>
            <a:endParaRPr 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6419088" y="302666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 ПДн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6419088" y="3429000"/>
            <a:ext cx="18470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ждём картину фактических потоков данных от продукта и разработки</a:t>
            </a:r>
            <a:endParaRPr 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6419088" y="389534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договоров за 10 рабочих дней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6419088" y="4297680"/>
            <a:ext cx="18470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одном юристе в отделе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8503920" y="1115568"/>
            <a:ext cx="292608" cy="292608"/>
          </a:xfrm>
          <a:prstGeom prst="ellipse">
            <a:avLst/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449056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8887968" y="1088136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Гипотезы и решения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8503920" y="1755648"/>
            <a:ext cx="1645920" cy="4041648"/>
          </a:xfrm>
          <a:prstGeom prst="roundRect">
            <a:avLst>
              <a:gd name="adj" fmla="val 3333"/>
            </a:avLst>
          </a:prstGeom>
          <a:solidFill>
            <a:srgbClr val="F6F8F8"/>
          </a:solidFill>
          <a:ln w="9525">
            <a:solidFill>
              <a:srgbClr val="E4E9E9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631936" y="1883664"/>
            <a:ext cx="1389888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9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Агенты в Claude запускаются при каждом согласовании договора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9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KYC/AML закрываем партнёрством с Банком 131, а не своим штатом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9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дверь для договоров: Яндекс Трекер, 10 шаблонов, SLA 2 р.д.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10259568" y="1115568"/>
            <a:ext cx="292608" cy="292608"/>
          </a:xfrm>
          <a:prstGeom prst="ellipse">
            <a:avLst/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10204704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10643616" y="1088136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Приоритеты на 2 недели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10259568" y="1755648"/>
            <a:ext cx="1554480" cy="4041648"/>
          </a:xfrm>
          <a:prstGeom prst="roundRect">
            <a:avLst>
              <a:gd name="adj" fmla="val 3529"/>
            </a:avLst>
          </a:prstGeom>
          <a:solidFill>
            <a:srgbClr val="F6F8F8"/>
          </a:solidFill>
          <a:ln w="9525">
            <a:solidFill>
              <a:srgbClr val="E4E9E9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10387584" y="1883664"/>
            <a:ext cx="1298448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9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25.09 — КТ-3 прецедента: договор Банка 131 вычитан, миграция описана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9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30.09 — ПДн-комплект, аудит рисков, AML, KPI-сверка № 1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9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01.10 — все договоры идут через одну дверь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31089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отдел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факт: 25.08–15.09.2026  ·  цель — на квартал, до 30.09.2026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427464" y="31089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  ·  38 неделя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292608" cy="292608"/>
          </a:xfrm>
          <a:prstGeom prst="ellipse">
            <a:avLst/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9184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1088136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квартала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84048" y="1755648"/>
            <a:ext cx="1554480" cy="4041648"/>
          </a:xfrm>
          <a:prstGeom prst="roundRect">
            <a:avLst>
              <a:gd name="adj" fmla="val 3529"/>
            </a:avLst>
          </a:prstGeom>
          <a:solidFill>
            <a:srgbClr val="F6F8F8"/>
          </a:solidFill>
          <a:ln w="9525">
            <a:solidFill>
              <a:srgbClr val="E4E9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" y="188366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12064" y="20574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99,8%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12064" y="279806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Predictability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12064" y="29718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0,85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" y="371246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 for Changes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12064" y="38862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недели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" y="462686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Failure Rate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12064" y="48006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30%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48256" y="1115568"/>
            <a:ext cx="292608" cy="292608"/>
          </a:xfrm>
          <a:prstGeom prst="ellipse">
            <a:avLst/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93392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432304" y="1088136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на 15.09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048256" y="1755648"/>
            <a:ext cx="1874520" cy="4041648"/>
          </a:xfrm>
          <a:prstGeom prst="roundRect">
            <a:avLst>
              <a:gd name="adj" fmla="val 2927"/>
            </a:avLst>
          </a:prstGeom>
          <a:solidFill>
            <a:srgbClr val="F6F8F8"/>
          </a:solidFill>
          <a:ln w="9525">
            <a:solidFill>
              <a:srgbClr val="E4E9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76272" y="188366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2176272" y="2057400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99,81%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176272" y="229514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90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2176272" y="279806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Predictability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2176272" y="2971800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подсчитать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176272" y="320954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подсчитать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2176272" y="371246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 for Changes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2176272" y="3886200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4,73 дн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176272" y="412394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B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2176272" y="462686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Failure Rate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2176272" y="4800600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176272" y="503834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B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032504" y="1115568"/>
            <a:ext cx="292608" cy="292608"/>
          </a:xfrm>
          <a:prstGeom prst="ellipse">
            <a:avLst/>
          </a:prstGeom>
          <a:solidFill>
            <a:srgbClr val="3B6FE0"/>
          </a:solidFill>
          <a:ln w="12700">
            <a:solidFill>
              <a:srgbClr val="3B6FE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977640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416552" y="1088136"/>
            <a:ext cx="1764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сделал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что помогло (драйвер)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032504" y="1755648"/>
            <a:ext cx="2148840" cy="4041648"/>
          </a:xfrm>
          <a:prstGeom prst="roundRect">
            <a:avLst>
              <a:gd name="adj" fmla="val 2553"/>
            </a:avLst>
          </a:prstGeom>
          <a:solidFill>
            <a:srgbClr val="F4F7FE"/>
          </a:solidFill>
          <a:ln w="9525">
            <a:solidFill>
              <a:srgbClr val="D6E2F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160520" y="1883664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факт: 25.08 → 15.09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4160520" y="2157984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Заполнить: задача — результат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4160520" y="2560320"/>
            <a:ext cx="189280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драйвер: что помогло её сделать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4160520" y="3026664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Заполнить: задача — результат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4160520" y="3429000"/>
            <a:ext cx="189280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драйвер: что помогло её сделать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4160520" y="3895344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Заполнить: задача — результат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4160520" y="4297680"/>
            <a:ext cx="189280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драйвер: что помогло её сделать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291072" y="1115568"/>
            <a:ext cx="292608" cy="292608"/>
          </a:xfrm>
          <a:prstGeom prst="ellipse">
            <a:avLst/>
          </a:prstGeom>
          <a:solidFill>
            <a:srgbClr val="3B6FE0"/>
          </a:solidFill>
          <a:ln w="12700">
            <a:solidFill>
              <a:srgbClr val="3B6FE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36208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675120" y="1088136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не сделал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узкое горлышко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291072" y="1755648"/>
            <a:ext cx="2103120" cy="4041648"/>
          </a:xfrm>
          <a:prstGeom prst="roundRect">
            <a:avLst>
              <a:gd name="adj" fmla="val 2609"/>
            </a:avLst>
          </a:prstGeom>
          <a:solidFill>
            <a:srgbClr val="F4F7FE"/>
          </a:solidFill>
          <a:ln w="9525">
            <a:solidFill>
              <a:srgbClr val="D6E2F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19088" y="188366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90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ключевая сложность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6419088" y="215798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Яндекс Трекер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6419088" y="2560320"/>
            <a:ext cx="18470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ограничивает работу с задачами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6419088" y="302666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6419088" y="3429000"/>
            <a:ext cx="18470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упирается в переезд на Яндекс Клауд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6419088" y="389534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Тестировщики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6419088" y="4297680"/>
            <a:ext cx="18470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найм не закрыт</a:t>
            </a:r>
            <a:endParaRPr lang="en-US" sz="850" dirty="0"/>
          </a:p>
        </p:txBody>
      </p:sp>
      <p:sp>
        <p:nvSpPr>
          <p:cNvPr id="55" name="Text 53"/>
          <p:cNvSpPr txBox="1"/>
          <p:nvPr/>
        </p:nvSpPr>
        <p:spPr>
          <a:xfrm>
            <a:off x="6419088" y="476402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Predictability не считается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6419088" y="5166360"/>
            <a:ext cx="18470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77–100% задач добавлено после старта спринта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503920" y="1115568"/>
            <a:ext cx="292608" cy="292608"/>
          </a:xfrm>
          <a:prstGeom prst="ellipse">
            <a:avLst/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449056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8887968" y="1088136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Гипотезы и решения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8503920" y="1755648"/>
            <a:ext cx="1645920" cy="4041648"/>
          </a:xfrm>
          <a:prstGeom prst="roundRect">
            <a:avLst>
              <a:gd name="adj" fmla="val 3333"/>
            </a:avLst>
          </a:prstGeom>
          <a:solidFill>
            <a:srgbClr val="F6F8F8"/>
          </a:solidFill>
          <a:ln w="9525">
            <a:solidFill>
              <a:srgbClr val="E4E9E9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631936" y="1883664"/>
            <a:ext cx="1389888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9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Predictability — вопрос планирования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9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решит больше вопросов и не даст манипулировать метрикой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9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Чёткое планирование на месяц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10259568" y="1115568"/>
            <a:ext cx="292608" cy="292608"/>
          </a:xfrm>
          <a:prstGeom prst="ellipse">
            <a:avLst/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0204704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10643616" y="1088136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Приоритеты на 2 недели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10259568" y="1755648"/>
            <a:ext cx="1554480" cy="4041648"/>
          </a:xfrm>
          <a:prstGeom prst="roundRect">
            <a:avLst>
              <a:gd name="adj" fmla="val 3529"/>
            </a:avLst>
          </a:prstGeom>
          <a:solidFill>
            <a:srgbClr val="F6F8F8"/>
          </a:solidFill>
          <a:ln w="9525">
            <a:solidFill>
              <a:srgbClr val="E4E9E9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0387584" y="1883664"/>
            <a:ext cx="1298448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9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Переезд на Яндекс Клауд — постепенно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9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Провайдер ZVX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9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Планы продуктового отдела не известны — синхронизироваться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31089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 отдел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7132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отдела  ·  факт: 25.08–15.09.2026  ·  цель — на квартал, до 30.09.2026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427464" y="31089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  ·  38 неделя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292608" cy="292608"/>
          </a:xfrm>
          <a:prstGeom prst="ellipse">
            <a:avLst/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9184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1088136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квартала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84048" y="1755648"/>
            <a:ext cx="1554480" cy="4041648"/>
          </a:xfrm>
          <a:prstGeom prst="roundRect">
            <a:avLst>
              <a:gd name="adj" fmla="val 3529"/>
            </a:avLst>
          </a:prstGeom>
          <a:solidFill>
            <a:srgbClr val="F6F8F8"/>
          </a:solidFill>
          <a:ln w="9525">
            <a:solidFill>
              <a:srgbClr val="E4E9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" y="188366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12064" y="20574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Х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12064" y="279806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12064" y="29718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Х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" y="371246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12064" y="38862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Х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" y="462686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12064" y="48006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Х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48256" y="1115568"/>
            <a:ext cx="292608" cy="292608"/>
          </a:xfrm>
          <a:prstGeom prst="ellipse">
            <a:avLst/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93392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432304" y="1088136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на 15.09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048256" y="1755648"/>
            <a:ext cx="1874520" cy="4041648"/>
          </a:xfrm>
          <a:prstGeom prst="roundRect">
            <a:avLst>
              <a:gd name="adj" fmla="val 2927"/>
            </a:avLst>
          </a:prstGeom>
          <a:solidFill>
            <a:srgbClr val="F6F8F8"/>
          </a:solidFill>
          <a:ln w="9525">
            <a:solidFill>
              <a:srgbClr val="E4E9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76272" y="188366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2176272" y="2057400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176272" y="229514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B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плану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2176272" y="279806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2176272" y="2971800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176272" y="320954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90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2176272" y="371246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2176272" y="3886200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176272" y="412394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 плане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2176272" y="462686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2176272" y="4800600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176272" y="503834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B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плану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032504" y="1115568"/>
            <a:ext cx="292608" cy="292608"/>
          </a:xfrm>
          <a:prstGeom prst="ellipse">
            <a:avLst/>
          </a:prstGeom>
          <a:solidFill>
            <a:srgbClr val="3B6FE0"/>
          </a:solidFill>
          <a:ln w="12700">
            <a:solidFill>
              <a:srgbClr val="3B6FE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977640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416552" y="1088136"/>
            <a:ext cx="1764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сделал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что помогло (драйвер)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032504" y="1755648"/>
            <a:ext cx="2148840" cy="4041648"/>
          </a:xfrm>
          <a:prstGeom prst="roundRect">
            <a:avLst>
              <a:gd name="adj" fmla="val 2553"/>
            </a:avLst>
          </a:prstGeom>
          <a:solidFill>
            <a:srgbClr val="F4F7FE"/>
          </a:solidFill>
          <a:ln w="9525">
            <a:solidFill>
              <a:srgbClr val="D6E2F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160520" y="1883664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факт: 25.08 → 15.09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4160520" y="2157984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— результат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4160520" y="2560320"/>
            <a:ext cx="189280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драйвер: что помогло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4160520" y="3026664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— результат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4160520" y="3429000"/>
            <a:ext cx="189280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драйвер: что помогло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4160520" y="3895344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— результат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4160520" y="4297680"/>
            <a:ext cx="189280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драйвер: что помогло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4160520" y="4764024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— результат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4160520" y="5166360"/>
            <a:ext cx="189280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драйвер: что помогло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291072" y="1115568"/>
            <a:ext cx="292608" cy="292608"/>
          </a:xfrm>
          <a:prstGeom prst="ellipse">
            <a:avLst/>
          </a:prstGeom>
          <a:solidFill>
            <a:srgbClr val="3B6FE0"/>
          </a:solidFill>
          <a:ln w="12700">
            <a:solidFill>
              <a:srgbClr val="3B6FE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236208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6675120" y="1088136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не сделал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узкое горлышко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291072" y="1755648"/>
            <a:ext cx="2103120" cy="4041648"/>
          </a:xfrm>
          <a:prstGeom prst="roundRect">
            <a:avLst>
              <a:gd name="adj" fmla="val 2609"/>
            </a:avLst>
          </a:prstGeom>
          <a:solidFill>
            <a:srgbClr val="F4F7FE"/>
          </a:solidFill>
          <a:ln w="9525">
            <a:solidFill>
              <a:srgbClr val="D6E2F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19088" y="188366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90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ключевая сложность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6419088" y="215798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— почему не сделана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6419088" y="2560320"/>
            <a:ext cx="18470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узкое горлышко: что мешает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6419088" y="302666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— почему не сделана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6419088" y="3429000"/>
            <a:ext cx="18470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узкое горлышко: что мешает</a:t>
            </a:r>
            <a:endParaRPr lang="en-US" sz="850" dirty="0"/>
          </a:p>
        </p:txBody>
      </p:sp>
      <p:sp>
        <p:nvSpPr>
          <p:cNvPr id="55" name="Text 53"/>
          <p:cNvSpPr txBox="1"/>
          <p:nvPr/>
        </p:nvSpPr>
        <p:spPr>
          <a:xfrm>
            <a:off x="6419088" y="3895344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— почему не сделана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6419088" y="4297680"/>
            <a:ext cx="18470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узкое горлышко: что мешает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503920" y="1115568"/>
            <a:ext cx="292608" cy="292608"/>
          </a:xfrm>
          <a:prstGeom prst="ellipse">
            <a:avLst/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449056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8887968" y="1088136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Гипотезы и решения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8503920" y="1755648"/>
            <a:ext cx="1645920" cy="4041648"/>
          </a:xfrm>
          <a:prstGeom prst="roundRect">
            <a:avLst>
              <a:gd name="adj" fmla="val 3333"/>
            </a:avLst>
          </a:prstGeom>
          <a:solidFill>
            <a:srgbClr val="F6F8F8"/>
          </a:solidFill>
          <a:ln w="9525">
            <a:solidFill>
              <a:srgbClr val="E4E9E9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631936" y="1883664"/>
            <a:ext cx="1389888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9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9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9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10259568" y="1115568"/>
            <a:ext cx="292608" cy="292608"/>
          </a:xfrm>
          <a:prstGeom prst="ellipse">
            <a:avLst/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0204704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10643616" y="1088136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Приоритеты на 2 недели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10259568" y="1755648"/>
            <a:ext cx="1554480" cy="4041648"/>
          </a:xfrm>
          <a:prstGeom prst="roundRect">
            <a:avLst>
              <a:gd name="adj" fmla="val 3529"/>
            </a:avLst>
          </a:prstGeom>
          <a:solidFill>
            <a:srgbClr val="F6F8F8"/>
          </a:solidFill>
          <a:ln w="9525">
            <a:solidFill>
              <a:srgbClr val="E4E9E9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0387584" y="1883664"/>
            <a:ext cx="1298448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9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9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9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Промежуточные результаты Q3 2026 — 38 неделя</dc:title>
  <dc:subject>PptxGenJS Presentation</dc:subject>
  <dc:creator>HR ППМ</dc:creator>
  <cp:lastModifiedBy>HR ППМ</cp:lastModifiedBy>
  <cp:revision>1</cp:revision>
  <dcterms:created xsi:type="dcterms:W3CDTF">2026-09-14T12:21:42Z</dcterms:created>
  <dcterms:modified xsi:type="dcterms:W3CDTF">2026-09-14T12:21:42Z</dcterms:modified>
</cp:coreProperties>
</file>